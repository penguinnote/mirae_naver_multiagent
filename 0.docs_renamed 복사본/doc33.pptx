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0" r:id="rId3"/>
    <p:sldId id="307" r:id="rId4"/>
    <p:sldId id="315" r:id="rId5"/>
    <p:sldId id="317" r:id="rId6"/>
    <p:sldId id="318" r:id="rId7"/>
    <p:sldId id="29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77B16-F596-4471-9C2C-438A369D7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D40742-624F-4CFA-B9D6-9DC579231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E595CD-DE8E-4EA6-899A-22BCB8BD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1F2EB-C0F4-4956-BAD9-6B2D0C6B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2C5972-3DFE-4AAB-B2CD-77405AE3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13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E3715-BD73-4F93-BBAA-EA0EECC3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7F24-14CB-4560-A4F1-31ECFB39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2DF84-46FD-47A9-872F-269297C5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8AD3A-2BB8-4E5F-9063-D14D3879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6DDF6E-7292-47BE-8431-86F825D0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07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6ACD69-E584-4AAA-B995-19BF515E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1A49C-8E2B-4706-9426-B699CBD58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69C0F-ACF2-4314-9118-CC05EF31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55640-3D8D-4F7F-9087-B486EDDB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0F68C-4799-460D-995A-A154B951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33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FF4BB-3753-4844-B688-D60A147D9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58708-730C-47FF-9ECA-8978FF951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D4728C-09CE-43D6-A346-5A79ABF87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11588-C8D4-4E10-8D2E-C5D15092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7E272E-F68E-4015-8656-C0F279E6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460F3-95CD-498A-B2EF-90DCBDB1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30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7517E-1076-431D-BF90-4A497F94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46EBF6-F26A-4ADE-B105-B2D2718B0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918E24-6D96-4443-B910-CDA794CF7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66D79F-27EC-467F-90EF-CF4ED0851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01D2F6-D517-4CDD-BFB7-E8CAA1E06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85115D-AB12-4B9B-B94D-AFEC2A0C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3E281F-FAD6-47FD-BCFD-DEE533D9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E5D3FE-05E0-4E4B-8D1C-B1BBE4BC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13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6BD12-90DF-4446-A58D-C5117006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4D5C26-99AF-4A6E-89DF-1165156BD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B833C7-E485-4CF3-8A58-5264D9B2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CC48A5-01EC-470A-8651-1F36297F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80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A6E888-7C77-4ADD-B441-529C3E71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AFDF94-8F37-4299-9A70-8413833F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F0E4-4E5E-4270-99C7-1929168D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96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E808F-1B26-43E6-9CE0-F6965FFF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AC026A-2A7D-48BD-A84E-297CC257C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A2CCB9-19E6-441F-A433-DECC1E1B9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4EC57A-96C4-4FA2-81D0-8246ED6F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BC72B-452E-4364-8294-786CE02C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B7986F-8708-4333-AAB2-6C717533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99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FED5B-B2F5-4C73-BFF5-9C3AD85E2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B48B79-73F2-4C4B-BE28-0FC4DA2EA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599523-767B-4994-8EDE-D0E8F2D36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75A955-4160-4910-80F0-09E2DB14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68A268-9969-478A-9E93-81999C22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877DEF-2CEB-42FE-9E9E-DC8CEE69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99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B1530-CB42-4B6E-8B36-62F9B2C8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CC8FA3-2B09-45F6-BF8B-A09B46224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B8C692-FAC7-4B2D-9692-05574F7C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CB010-CE9A-4BD9-9159-187A894F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ED83DC-B51A-46BD-B841-5F4FFA56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66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DD8A55-4526-4853-9B52-3A8398D44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942899-6F0C-4E02-83DC-D5659DFEF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E3883-870F-436D-B517-709E5FFF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5DE8B5-C284-4E15-A5D6-13923C21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F41D5C-542A-4933-A0DF-2D7B582C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652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785832" y="5970593"/>
            <a:ext cx="82324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미래에셋증권이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본 자료에 수록된 내용은 신뢰할만한 자료 및 정보로부터 얻어진 것이나 당사는 그 정확상이나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+mn-ea"/>
                <a:ea typeface="+mn-ea"/>
                <a:cs typeface="KoPub돋움체_Pro Medium"/>
              </a:rPr>
              <a:t>.</a:t>
            </a:r>
            <a:endParaRPr lang="en-US" sz="900" b="0" i="0" dirty="0">
              <a:solidFill>
                <a:schemeClr val="tx1"/>
              </a:solidFill>
              <a:latin typeface="+mn-ea"/>
              <a:ea typeface="+mn-ea"/>
              <a:cs typeface="KoPub돋움체_Pro Medium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785833" y="1612364"/>
            <a:ext cx="10368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제목을 입력하십시오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85833" y="4800453"/>
            <a:ext cx="5697415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r>
              <a:rPr lang="en-US" altLang="ko-KR" dirty="0"/>
              <a:t> (15~20pt)</a:t>
            </a:r>
            <a:endParaRPr 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39" y="5678745"/>
            <a:ext cx="2431868" cy="693538"/>
          </a:xfrm>
          <a:prstGeom prst="rect">
            <a:avLst/>
          </a:prstGeom>
        </p:spPr>
      </p:pic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85833" y="385170"/>
            <a:ext cx="5697415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000" b="0" i="0" spc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</a:lstStyle>
          <a:p>
            <a:pPr lvl="0"/>
            <a:r>
              <a:rPr lang="ko-KR" altLang="en-US" dirty="0"/>
              <a:t>사내한 심의필 기타메시지</a:t>
            </a:r>
            <a:endParaRPr lang="en-US" dirty="0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895249" y="4495800"/>
            <a:ext cx="902290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785833" y="5180357"/>
            <a:ext cx="5697415" cy="343048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329653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746369" y="1645941"/>
            <a:ext cx="10357339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+mn-ea"/>
                <a:ea typeface="+mn-ea"/>
                <a:cs typeface="KoPub돋움체_Pro Medium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marL="252000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(15~20pt)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 </a:t>
            </a:r>
            <a:r>
              <a:rPr lang="en-US" altLang="ko-KR" dirty="0"/>
              <a:t>(8~15pt)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(8~15pt)</a:t>
            </a:r>
          </a:p>
        </p:txBody>
      </p:sp>
      <p:sp>
        <p:nvSpPr>
          <p:cNvPr id="6" name="직사각형 5"/>
          <p:cNvSpPr/>
          <p:nvPr userDrawn="1"/>
        </p:nvSpPr>
        <p:spPr>
          <a:xfrm flipV="1">
            <a:off x="0" y="1079501"/>
            <a:ext cx="12192000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924131" y="451903"/>
            <a:ext cx="4893794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lang="en-US" altLang="ko-KR" sz="1200" baseline="0" dirty="0">
                <a:solidFill>
                  <a:srgbClr val="00427A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pPr marL="0" lvl="0">
              <a:spcBef>
                <a:spcPct val="0"/>
              </a:spcBef>
            </a:pPr>
            <a:r>
              <a:rPr lang="en-US" altLang="ko-KR"/>
              <a:t>| </a:t>
            </a:r>
            <a:r>
              <a:rPr lang="ko-KR" altLang="en-US" dirty="0"/>
              <a:t>문서제목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6541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506768" y="417789"/>
            <a:ext cx="109728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텍스트를 입력하십시오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6768" y="959321"/>
            <a:ext cx="109728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(8~15pt)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03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2906713"/>
            <a:ext cx="103632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0" i="0" baseline="0">
                <a:solidFill>
                  <a:srgbClr val="F58125"/>
                </a:solidFill>
                <a:latin typeface="+mj-ea"/>
                <a:ea typeface="+mj-ea"/>
                <a:cs typeface="Noto Sans" panose="020B08020405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876" y="5690202"/>
            <a:ext cx="2103616" cy="59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6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8F3985-BD09-47FC-AB9D-9A126B1A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1F7D0-A6BA-4124-B9A4-8E6A58AA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61580F-4B2C-4D76-BB08-FB01F4718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C992E-C1F9-48E1-86E5-B44F4C26DF22}" type="datetimeFigureOut">
              <a:rPr lang="ko-KR" altLang="en-US" smtClean="0"/>
              <a:t>2026. 7. 25.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4F027-DF6A-4622-B9FD-24D9608F0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8A367-11BA-4069-AA85-2C8C1091A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3AF0B-4A59-429F-A358-88D0D9DFDD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59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ko-KR" dirty="0"/>
              <a:t>2024.05</a:t>
            </a:r>
            <a:endParaRPr kumimoji="1"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785833" y="1128888"/>
            <a:ext cx="10368000" cy="16143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연금계좌 만기</a:t>
            </a:r>
            <a:r>
              <a:rPr kumimoji="1"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ISA</a:t>
            </a:r>
            <a:r>
              <a:rPr kumimoji="1"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전환입금 업무 자주 나오는 </a:t>
            </a:r>
            <a:r>
              <a:rPr kumimoji="1"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FAQ</a:t>
            </a:r>
            <a:br>
              <a:rPr kumimoji="1" lang="en-US" altLang="ko-KR" dirty="0"/>
            </a:br>
            <a:r>
              <a:rPr kumimoji="1" lang="en-US" altLang="ko-KR" dirty="0"/>
              <a:t> </a:t>
            </a:r>
            <a:r>
              <a:rPr kumimoji="1" lang="en-US" altLang="ko-KR" sz="2800" dirty="0"/>
              <a:t>[</a:t>
            </a:r>
            <a:r>
              <a:rPr kumimoji="1" lang="ko-KR" altLang="en-US" sz="2800" dirty="0"/>
              <a:t>연금저축</a:t>
            </a:r>
            <a:r>
              <a:rPr kumimoji="1" lang="en-US" altLang="ko-KR" sz="2800" dirty="0"/>
              <a:t>,IRP</a:t>
            </a:r>
            <a:r>
              <a:rPr kumimoji="1" lang="ko-KR" altLang="en-US" sz="2800" dirty="0"/>
              <a:t>공통</a:t>
            </a:r>
            <a:r>
              <a:rPr kumimoji="1" lang="en-US" altLang="ko-KR" sz="2800" dirty="0"/>
              <a:t>]</a:t>
            </a:r>
            <a:endParaRPr kumimoji="1"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1778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749426" y="457268"/>
            <a:ext cx="1459581" cy="409433"/>
          </a:xfrm>
          <a:prstGeom prst="rect">
            <a:avLst/>
          </a:prstGeom>
        </p:spPr>
        <p:txBody>
          <a:bodyPr/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en-US" altLang="ko-KR" sz="1500">
                <a:solidFill>
                  <a:srgbClr val="00427A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Contents</a:t>
            </a:r>
            <a:endParaRPr lang="ko-KR" altLang="en-US" sz="1500" dirty="0">
              <a:solidFill>
                <a:srgbClr val="00427A"/>
              </a:solidFill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2"/>
          </p:nvPr>
        </p:nvSpPr>
        <p:spPr>
          <a:xfrm>
            <a:off x="1894946" y="1971431"/>
            <a:ext cx="8605308" cy="506796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ko-KR" altLang="en-US" sz="1400" dirty="0">
              <a:latin typeface="+mj-ea"/>
            </a:endParaRPr>
          </a:p>
          <a:p>
            <a:pPr marL="0" indent="0">
              <a:buNone/>
            </a:pPr>
            <a:endParaRPr lang="ko-KR" altLang="en-US" sz="1400" dirty="0">
              <a:latin typeface="+mj-ea"/>
            </a:endParaRPr>
          </a:p>
          <a:p>
            <a:pPr marL="0" indent="0">
              <a:buNone/>
            </a:pPr>
            <a:endParaRPr kumimoji="1" lang="en-US" altLang="ko-KR" sz="1400" dirty="0"/>
          </a:p>
          <a:p>
            <a:pPr marL="0" indent="0">
              <a:buNone/>
            </a:pPr>
            <a:r>
              <a:rPr kumimoji="1" lang="en-US" altLang="ko-KR" sz="1400" dirty="0"/>
              <a:t>          </a:t>
            </a:r>
            <a:endParaRPr kumimoji="1" lang="ko-KR" altLang="en-US" sz="1400" dirty="0"/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F97F2A9A-DA26-4DBD-921D-2E6588DC4A3E}"/>
              </a:ext>
            </a:extLst>
          </p:cNvPr>
          <p:cNvSpPr/>
          <p:nvPr/>
        </p:nvSpPr>
        <p:spPr>
          <a:xfrm>
            <a:off x="1616954" y="1430870"/>
            <a:ext cx="679624" cy="253535"/>
          </a:xfrm>
          <a:prstGeom prst="roundRect">
            <a:avLst>
              <a:gd name="adj" fmla="val 16667"/>
            </a:avLst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1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9" name="모서리가 둥근 직사각형 16">
            <a:extLst>
              <a:ext uri="{FF2B5EF4-FFF2-40B4-BE49-F238E27FC236}">
                <a16:creationId xmlns:a16="http://schemas.microsoft.com/office/drawing/2014/main" id="{F97F2A9A-DA26-4DBD-921D-2E6588DC4A3E}"/>
              </a:ext>
            </a:extLst>
          </p:cNvPr>
          <p:cNvSpPr/>
          <p:nvPr/>
        </p:nvSpPr>
        <p:spPr>
          <a:xfrm>
            <a:off x="1628596" y="2748205"/>
            <a:ext cx="679624" cy="253535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3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0" name="모서리가 둥근 직사각형 16">
            <a:extLst>
              <a:ext uri="{FF2B5EF4-FFF2-40B4-BE49-F238E27FC236}">
                <a16:creationId xmlns:a16="http://schemas.microsoft.com/office/drawing/2014/main" id="{F97F2A9A-DA26-4DBD-921D-2E6588DC4A3E}"/>
              </a:ext>
            </a:extLst>
          </p:cNvPr>
          <p:cNvSpPr/>
          <p:nvPr/>
        </p:nvSpPr>
        <p:spPr>
          <a:xfrm>
            <a:off x="1616954" y="3316240"/>
            <a:ext cx="679624" cy="253535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4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1" name="모서리가 둥근 직사각형 16">
            <a:extLst>
              <a:ext uri="{FF2B5EF4-FFF2-40B4-BE49-F238E27FC236}">
                <a16:creationId xmlns:a16="http://schemas.microsoft.com/office/drawing/2014/main" id="{F97F2A9A-DA26-4DBD-921D-2E6588DC4A3E}"/>
              </a:ext>
            </a:extLst>
          </p:cNvPr>
          <p:cNvSpPr/>
          <p:nvPr/>
        </p:nvSpPr>
        <p:spPr>
          <a:xfrm>
            <a:off x="1616954" y="3884275"/>
            <a:ext cx="679624" cy="253535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5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12" name="모서리가 둥근 직사각형 16">
            <a:extLst>
              <a:ext uri="{FF2B5EF4-FFF2-40B4-BE49-F238E27FC236}">
                <a16:creationId xmlns:a16="http://schemas.microsoft.com/office/drawing/2014/main" id="{F97F2A9A-DA26-4DBD-921D-2E6588DC4A3E}"/>
              </a:ext>
            </a:extLst>
          </p:cNvPr>
          <p:cNvSpPr/>
          <p:nvPr/>
        </p:nvSpPr>
        <p:spPr>
          <a:xfrm>
            <a:off x="1628598" y="4477710"/>
            <a:ext cx="679624" cy="253535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6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A2BEC-CFF1-4D10-9BBD-FC260889904D}"/>
              </a:ext>
            </a:extLst>
          </p:cNvPr>
          <p:cNvSpPr txBox="1"/>
          <p:nvPr/>
        </p:nvSpPr>
        <p:spPr>
          <a:xfrm>
            <a:off x="2474403" y="1391422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연금계좌로 만기</a:t>
            </a:r>
            <a:r>
              <a:rPr lang="en-US" altLang="ko-KR" sz="1400" dirty="0"/>
              <a:t>ISA </a:t>
            </a:r>
            <a:r>
              <a:rPr lang="ko-KR" altLang="en-US" sz="1400" dirty="0" err="1"/>
              <a:t>전환시</a:t>
            </a:r>
            <a:r>
              <a:rPr lang="ko-KR" altLang="en-US" sz="1400" dirty="0"/>
              <a:t> </a:t>
            </a:r>
            <a:r>
              <a:rPr lang="en-US" altLang="ko-KR" sz="1400" dirty="0"/>
              <a:t>60</a:t>
            </a:r>
            <a:r>
              <a:rPr lang="ko-KR" altLang="en-US" sz="1400" dirty="0"/>
              <a:t>일 이내에 입금되어야 하는데 정확한 </a:t>
            </a:r>
            <a:r>
              <a:rPr lang="en-US" altLang="ko-KR" sz="1400" dirty="0"/>
              <a:t>60</a:t>
            </a:r>
            <a:r>
              <a:rPr lang="ko-KR" altLang="en-US" sz="1400" dirty="0"/>
              <a:t>일 기준은 언제까지인가요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3C1B1A-799B-4B9C-A355-9DD1D506734E}"/>
              </a:ext>
            </a:extLst>
          </p:cNvPr>
          <p:cNvSpPr txBox="1"/>
          <p:nvPr/>
        </p:nvSpPr>
        <p:spPr>
          <a:xfrm>
            <a:off x="2537903" y="2690130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해지부터 연금전환까지의 흐름을 정리해주세요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359DE4-69F1-4552-959C-B0DC6333B9A4}"/>
              </a:ext>
            </a:extLst>
          </p:cNvPr>
          <p:cNvSpPr txBox="1"/>
          <p:nvPr/>
        </p:nvSpPr>
        <p:spPr>
          <a:xfrm>
            <a:off x="2517114" y="3285034"/>
            <a:ext cx="8989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만기일로부터 </a:t>
            </a:r>
            <a:r>
              <a:rPr lang="en-US" altLang="ko-KR" sz="1400" dirty="0">
                <a:latin typeface="+mj-ea"/>
                <a:ea typeface="+mj-ea"/>
              </a:rPr>
              <a:t>60</a:t>
            </a:r>
            <a:r>
              <a:rPr lang="ko-KR" altLang="en-US" sz="1400" dirty="0">
                <a:latin typeface="+mj-ea"/>
                <a:ea typeface="+mj-ea"/>
              </a:rPr>
              <a:t>일 이내라면 연금계좌 전환입금시 여러 차례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나눠서 입금할 수 있나요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9F1E3-65F1-4D45-B1A8-4229BB379B35}"/>
              </a:ext>
            </a:extLst>
          </p:cNvPr>
          <p:cNvSpPr txBox="1"/>
          <p:nvPr/>
        </p:nvSpPr>
        <p:spPr>
          <a:xfrm>
            <a:off x="2368060" y="4505414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연금계좌내 </a:t>
            </a:r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만기전환금액 외에 입금액이 없을 때 당해연도 세액공제 가능금액은 얼마인가요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6F68D9-E73B-49AE-B9E5-F26989C747F7}"/>
              </a:ext>
            </a:extLst>
          </p:cNvPr>
          <p:cNvSpPr txBox="1"/>
          <p:nvPr/>
        </p:nvSpPr>
        <p:spPr>
          <a:xfrm>
            <a:off x="2491077" y="3884328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만기 전환금액으로 연금계좌에 입금한 금액은 출금이 가능한가요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30" name="모서리가 둥근 직사각형 16">
            <a:extLst>
              <a:ext uri="{FF2B5EF4-FFF2-40B4-BE49-F238E27FC236}">
                <a16:creationId xmlns:a16="http://schemas.microsoft.com/office/drawing/2014/main" id="{5498036F-73A6-4136-8738-FE2E9C29CC82}"/>
              </a:ext>
            </a:extLst>
          </p:cNvPr>
          <p:cNvSpPr/>
          <p:nvPr/>
        </p:nvSpPr>
        <p:spPr>
          <a:xfrm>
            <a:off x="1629654" y="2118975"/>
            <a:ext cx="679624" cy="253535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7F9272-AA2F-4D24-B0B8-9A43D849DCCA}"/>
              </a:ext>
            </a:extLst>
          </p:cNvPr>
          <p:cNvSpPr txBox="1"/>
          <p:nvPr/>
        </p:nvSpPr>
        <p:spPr>
          <a:xfrm>
            <a:off x="2520460" y="2092414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연금전환을 완료한 후 취소가 가능한가요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182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7D772-4797-3F4B-ADA1-0499180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만기</a:t>
            </a:r>
            <a:r>
              <a:rPr kumimoji="1" lang="en-US" altLang="ko-KR" dirty="0"/>
              <a:t>ISA </a:t>
            </a:r>
            <a:r>
              <a:rPr kumimoji="1" lang="ko-KR" altLang="en-US" dirty="0"/>
              <a:t>연금전환 업무</a:t>
            </a:r>
            <a:endParaRPr kumimoji="1"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A16BE98-17B4-469D-B1AA-20D35DB95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688" y="959321"/>
            <a:ext cx="11075811" cy="5166844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sz="700" dirty="0"/>
          </a:p>
          <a:p>
            <a:r>
              <a:rPr lang="en-US" altLang="ko-KR" dirty="0"/>
              <a:t>      -  ISA</a:t>
            </a:r>
            <a:r>
              <a:rPr lang="ko-KR" altLang="en-US" dirty="0"/>
              <a:t>만기일이 기준이며</a:t>
            </a:r>
            <a:r>
              <a:rPr lang="en-US" altLang="ko-KR" dirty="0"/>
              <a:t>, </a:t>
            </a:r>
            <a:r>
              <a:rPr lang="ko-KR" altLang="en-US" dirty="0"/>
              <a:t>조회 및 </a:t>
            </a:r>
            <a:r>
              <a:rPr lang="ko-KR" altLang="en-US" i="1" u="sng" dirty="0">
                <a:solidFill>
                  <a:srgbClr val="FF0000"/>
                </a:solidFill>
              </a:rPr>
              <a:t>입금확인 처리시점 </a:t>
            </a:r>
            <a:r>
              <a:rPr lang="en-US" altLang="ko-KR" i="1" u="sng" dirty="0">
                <a:solidFill>
                  <a:srgbClr val="FF0000"/>
                </a:solidFill>
              </a:rPr>
              <a:t>60</a:t>
            </a:r>
            <a:r>
              <a:rPr lang="ko-KR" altLang="en-US" i="1" u="sng" dirty="0">
                <a:solidFill>
                  <a:srgbClr val="FF0000"/>
                </a:solidFill>
              </a:rPr>
              <a:t>일 이내에 만기 해지된 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ISA</a:t>
            </a:r>
            <a:r>
              <a:rPr lang="ko-KR" altLang="en-US" dirty="0"/>
              <a:t>계좌가 있어야합니다</a:t>
            </a:r>
            <a:r>
              <a:rPr lang="en-US" altLang="ko-KR" dirty="0"/>
              <a:t>.(60</a:t>
            </a:r>
            <a:r>
              <a:rPr lang="ko-KR" altLang="en-US" dirty="0"/>
              <a:t>일은 캘린더 기준</a:t>
            </a:r>
            <a:r>
              <a:rPr lang="en-US" altLang="ko-KR" dirty="0"/>
              <a:t>, </a:t>
            </a:r>
            <a:r>
              <a:rPr lang="ko-KR" altLang="en-US" dirty="0"/>
              <a:t>만기일 당일 미포함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dirty="0"/>
              <a:t>   </a:t>
            </a:r>
          </a:p>
        </p:txBody>
      </p:sp>
      <p:sp>
        <p:nvSpPr>
          <p:cNvPr id="6" name="모서리가 둥근 직사각형 16">
            <a:extLst>
              <a:ext uri="{FF2B5EF4-FFF2-40B4-BE49-F238E27FC236}">
                <a16:creationId xmlns:a16="http://schemas.microsoft.com/office/drawing/2014/main" id="{BE3BB759-1A60-44A1-AEBF-D9FFAE7E858C}"/>
              </a:ext>
            </a:extLst>
          </p:cNvPr>
          <p:cNvSpPr/>
          <p:nvPr/>
        </p:nvSpPr>
        <p:spPr>
          <a:xfrm>
            <a:off x="630101" y="1064530"/>
            <a:ext cx="546450" cy="224960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+mj-ea"/>
                <a:ea typeface="+mj-ea"/>
              </a:rPr>
              <a:t>Q1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999EE-4F7F-4DFC-ACDB-B4B8EB864605}"/>
              </a:ext>
            </a:extLst>
          </p:cNvPr>
          <p:cNvSpPr txBox="1"/>
          <p:nvPr/>
        </p:nvSpPr>
        <p:spPr>
          <a:xfrm>
            <a:off x="1191703" y="1023122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연금계좌로 만기</a:t>
            </a:r>
            <a:r>
              <a:rPr lang="en-US" altLang="ko-KR" sz="1400" dirty="0"/>
              <a:t>ISA </a:t>
            </a:r>
            <a:r>
              <a:rPr lang="ko-KR" altLang="en-US" sz="1400" dirty="0" err="1"/>
              <a:t>전환시</a:t>
            </a:r>
            <a:r>
              <a:rPr lang="ko-KR" altLang="en-US" sz="1400" dirty="0"/>
              <a:t> </a:t>
            </a:r>
            <a:r>
              <a:rPr lang="en-US" altLang="ko-KR" sz="1400" dirty="0"/>
              <a:t>60</a:t>
            </a:r>
            <a:r>
              <a:rPr lang="ko-KR" altLang="en-US" sz="1400" dirty="0"/>
              <a:t>일 이내에 </a:t>
            </a:r>
            <a:r>
              <a:rPr lang="ko-KR" altLang="en-US" sz="1400" dirty="0" err="1"/>
              <a:t>입금되어야하는데</a:t>
            </a:r>
            <a:r>
              <a:rPr lang="ko-KR" altLang="en-US" sz="1400" dirty="0"/>
              <a:t> 정확한 </a:t>
            </a:r>
            <a:r>
              <a:rPr lang="en-US" altLang="ko-KR" sz="1400" dirty="0"/>
              <a:t>60</a:t>
            </a:r>
            <a:r>
              <a:rPr lang="ko-KR" altLang="en-US" sz="1400" dirty="0"/>
              <a:t>일 기준은 언제까지인가요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  <p:sp>
        <p:nvSpPr>
          <p:cNvPr id="13" name="모서리가 둥근 직사각형 1">
            <a:extLst>
              <a:ext uri="{FF2B5EF4-FFF2-40B4-BE49-F238E27FC236}">
                <a16:creationId xmlns:a16="http://schemas.microsoft.com/office/drawing/2014/main" id="{7B2BE49E-A8ED-4B89-B7F0-4B2FFFE8A68C}"/>
              </a:ext>
            </a:extLst>
          </p:cNvPr>
          <p:cNvSpPr/>
          <p:nvPr/>
        </p:nvSpPr>
        <p:spPr>
          <a:xfrm>
            <a:off x="3655594" y="397158"/>
            <a:ext cx="829476" cy="262533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FAQ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6E8174-9F1E-40B2-A6C2-F17B3CB5C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78" y="1888090"/>
            <a:ext cx="4510366" cy="2857950"/>
          </a:xfrm>
          <a:prstGeom prst="rect">
            <a:avLst/>
          </a:prstGeom>
        </p:spPr>
      </p:pic>
      <p:sp>
        <p:nvSpPr>
          <p:cNvPr id="11" name="모서리가 둥근 직사각형 16">
            <a:extLst>
              <a:ext uri="{FF2B5EF4-FFF2-40B4-BE49-F238E27FC236}">
                <a16:creationId xmlns:a16="http://schemas.microsoft.com/office/drawing/2014/main" id="{945A8B0C-AD10-4F51-ABE6-782E1CEB60C0}"/>
              </a:ext>
            </a:extLst>
          </p:cNvPr>
          <p:cNvSpPr/>
          <p:nvPr/>
        </p:nvSpPr>
        <p:spPr>
          <a:xfrm>
            <a:off x="630101" y="5068881"/>
            <a:ext cx="617356" cy="226287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E746C-4B6A-49CC-BB31-365BDB9D6F06}"/>
              </a:ext>
            </a:extLst>
          </p:cNvPr>
          <p:cNvSpPr txBox="1"/>
          <p:nvPr/>
        </p:nvSpPr>
        <p:spPr>
          <a:xfrm>
            <a:off x="1580660" y="5049583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연금전환을 완료한 후 취소가 가능한가요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704AE-3616-4814-90DE-69226CB4444A}"/>
              </a:ext>
            </a:extLst>
          </p:cNvPr>
          <p:cNvSpPr txBox="1"/>
          <p:nvPr/>
        </p:nvSpPr>
        <p:spPr>
          <a:xfrm>
            <a:off x="698501" y="5440459"/>
            <a:ext cx="100928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/>
              <a:t>ISA</a:t>
            </a:r>
            <a:r>
              <a:rPr lang="ko-KR" altLang="en-US" sz="1200" dirty="0"/>
              <a:t>연금전환이 완료되면 은행연합회에 정보가 등록되어 취소는 불가합니다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연금저축계좌의 경우 당해연도 전환금액은 인출이 가능하지만</a:t>
            </a:r>
            <a:r>
              <a:rPr lang="en-US" altLang="ko-KR" sz="1200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ko-KR" altLang="en-US" sz="1200" dirty="0"/>
              <a:t>이미 한도가 소진된 금액으로서 재납입은 불가합니다</a:t>
            </a:r>
            <a:r>
              <a:rPr lang="en-US" altLang="ko-KR" sz="1200" dirty="0"/>
              <a:t>. (Q5</a:t>
            </a:r>
            <a:r>
              <a:rPr lang="ko-KR" altLang="en-US" sz="1200" dirty="0"/>
              <a:t>참조</a:t>
            </a:r>
            <a:r>
              <a:rPr lang="en-US" altLang="ko-KR" sz="1200" dirty="0"/>
              <a:t>)</a:t>
            </a:r>
          </a:p>
          <a:p>
            <a:endParaRPr lang="ko-KR" altLang="en-US" sz="12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84A720A-1055-4BDE-AC5C-881DD48CB3BE}"/>
              </a:ext>
            </a:extLst>
          </p:cNvPr>
          <p:cNvSpPr/>
          <p:nvPr/>
        </p:nvSpPr>
        <p:spPr>
          <a:xfrm>
            <a:off x="2049243" y="1802236"/>
            <a:ext cx="5257567" cy="3029658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288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05DB2B-20D6-469A-A072-773402F942B4}"/>
              </a:ext>
            </a:extLst>
          </p:cNvPr>
          <p:cNvSpPr/>
          <p:nvPr/>
        </p:nvSpPr>
        <p:spPr>
          <a:xfrm>
            <a:off x="1041399" y="4332970"/>
            <a:ext cx="8060654" cy="14859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2C219A8-DB64-44F0-8370-0BD5688B385D}"/>
              </a:ext>
            </a:extLst>
          </p:cNvPr>
          <p:cNvSpPr/>
          <p:nvPr/>
        </p:nvSpPr>
        <p:spPr>
          <a:xfrm>
            <a:off x="1041399" y="2400300"/>
            <a:ext cx="8060655" cy="17690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38C348-F128-4133-8D09-98D5AC2A691F}"/>
              </a:ext>
            </a:extLst>
          </p:cNvPr>
          <p:cNvSpPr/>
          <p:nvPr/>
        </p:nvSpPr>
        <p:spPr>
          <a:xfrm>
            <a:off x="1041399" y="1353728"/>
            <a:ext cx="7993543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E7D772-4797-3F4B-ADA1-0499180B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만기</a:t>
            </a:r>
            <a:r>
              <a:rPr kumimoji="1" lang="en-US" altLang="ko-KR" dirty="0"/>
              <a:t>ISA </a:t>
            </a:r>
            <a:r>
              <a:rPr kumimoji="1" lang="ko-KR" altLang="en-US" dirty="0"/>
              <a:t>연금전환 업무</a:t>
            </a:r>
            <a:endParaRPr kumimoji="1" lang="ko-Kore-KR" altLang="en-US" dirty="0"/>
          </a:p>
        </p:txBody>
      </p:sp>
      <p:sp>
        <p:nvSpPr>
          <p:cNvPr id="6" name="모서리가 둥근 직사각형 16">
            <a:extLst>
              <a:ext uri="{FF2B5EF4-FFF2-40B4-BE49-F238E27FC236}">
                <a16:creationId xmlns:a16="http://schemas.microsoft.com/office/drawing/2014/main" id="{BE3BB759-1A60-44A1-AEBF-D9FFAE7E858C}"/>
              </a:ext>
            </a:extLst>
          </p:cNvPr>
          <p:cNvSpPr/>
          <p:nvPr/>
        </p:nvSpPr>
        <p:spPr>
          <a:xfrm>
            <a:off x="708753" y="988820"/>
            <a:ext cx="546450" cy="224960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+mj-ea"/>
                <a:ea typeface="+mj-ea"/>
              </a:rPr>
              <a:t>Q3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5999EE-4F7F-4DFC-ACDB-B4B8EB864605}"/>
              </a:ext>
            </a:extLst>
          </p:cNvPr>
          <p:cNvSpPr txBox="1"/>
          <p:nvPr/>
        </p:nvSpPr>
        <p:spPr>
          <a:xfrm>
            <a:off x="1255203" y="964130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해지부터 연금전환까지의 흐름을 정리해주세요</a:t>
            </a:r>
          </a:p>
        </p:txBody>
      </p:sp>
      <p:sp>
        <p:nvSpPr>
          <p:cNvPr id="13" name="모서리가 둥근 직사각형 1">
            <a:extLst>
              <a:ext uri="{FF2B5EF4-FFF2-40B4-BE49-F238E27FC236}">
                <a16:creationId xmlns:a16="http://schemas.microsoft.com/office/drawing/2014/main" id="{7B2BE49E-A8ED-4B89-B7F0-4B2FFFE8A68C}"/>
              </a:ext>
            </a:extLst>
          </p:cNvPr>
          <p:cNvSpPr/>
          <p:nvPr/>
        </p:nvSpPr>
        <p:spPr>
          <a:xfrm>
            <a:off x="3734540" y="440438"/>
            <a:ext cx="829476" cy="262533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FAQ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AF1353-27A1-4962-BAEB-A9639FEEFE78}"/>
              </a:ext>
            </a:extLst>
          </p:cNvPr>
          <p:cNvSpPr txBox="1"/>
          <p:nvPr/>
        </p:nvSpPr>
        <p:spPr>
          <a:xfrm>
            <a:off x="1255203" y="1411145"/>
            <a:ext cx="89789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STEP1. </a:t>
            </a:r>
          </a:p>
          <a:p>
            <a:endParaRPr lang="en-US" altLang="ko-KR" sz="1200" dirty="0"/>
          </a:p>
          <a:p>
            <a:r>
              <a:rPr lang="en-US" altLang="ko-KR" sz="1200" dirty="0"/>
              <a:t>ISA</a:t>
            </a:r>
            <a:r>
              <a:rPr lang="ko-KR" altLang="en-US" sz="1200" dirty="0"/>
              <a:t>계좌 만기해지 </a:t>
            </a:r>
            <a:r>
              <a:rPr lang="en-US" altLang="ko-KR" sz="1200" dirty="0"/>
              <a:t>(</a:t>
            </a:r>
            <a:r>
              <a:rPr lang="ko-KR" altLang="en-US" sz="1200" dirty="0"/>
              <a:t>영업점 방문 </a:t>
            </a:r>
            <a:r>
              <a:rPr lang="en-US" altLang="ko-KR" sz="1200" dirty="0"/>
              <a:t>OR </a:t>
            </a:r>
            <a:r>
              <a:rPr lang="ko-KR" altLang="en-US" sz="1200" dirty="0"/>
              <a:t>유선</a:t>
            </a:r>
            <a:r>
              <a:rPr lang="en-US" altLang="ko-KR" sz="1200" dirty="0"/>
              <a:t>)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b="1" dirty="0">
              <a:solidFill>
                <a:srgbClr val="FF0000"/>
              </a:solidFill>
            </a:endParaRP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STEP2. </a:t>
            </a:r>
          </a:p>
          <a:p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ISA</a:t>
            </a:r>
            <a:r>
              <a:rPr lang="ko-KR" altLang="en-US" sz="1200" dirty="0"/>
              <a:t>전환입금신청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-M-STOCK : </a:t>
            </a:r>
            <a:r>
              <a:rPr lang="ko-KR" altLang="en-US" sz="1200" dirty="0"/>
              <a:t>① 만기</a:t>
            </a:r>
            <a:r>
              <a:rPr lang="en-US" altLang="ko-KR" sz="1200" dirty="0"/>
              <a:t>ISA</a:t>
            </a:r>
            <a:r>
              <a:rPr lang="ko-KR" altLang="en-US" sz="1200" dirty="0"/>
              <a:t>전환신청 ☞ 경로 </a:t>
            </a:r>
            <a:r>
              <a:rPr lang="en-US" altLang="ko-KR" sz="1200" dirty="0"/>
              <a:t>: </a:t>
            </a:r>
            <a:r>
              <a:rPr lang="ko-KR" altLang="en-US" sz="1200" dirty="0"/>
              <a:t>연금 → 연금관리 → 연금입금관리 → </a:t>
            </a:r>
            <a:r>
              <a:rPr lang="en-US" altLang="ko-KR" sz="1200" dirty="0"/>
              <a:t>ISA</a:t>
            </a:r>
            <a:r>
              <a:rPr lang="ko-KR" altLang="en-US" sz="1200" dirty="0"/>
              <a:t> 전환입금 메뉴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STEP3.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ISA</a:t>
            </a:r>
            <a:r>
              <a:rPr lang="ko-KR" altLang="en-US" sz="1200" dirty="0"/>
              <a:t>전환금액 입금 및 만기</a:t>
            </a:r>
            <a:r>
              <a:rPr lang="en-US" altLang="ko-KR" sz="1200" dirty="0"/>
              <a:t>ISA</a:t>
            </a:r>
            <a:r>
              <a:rPr lang="ko-KR" altLang="en-US" sz="1200" dirty="0"/>
              <a:t>전환입금확인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※ </a:t>
            </a:r>
            <a:r>
              <a:rPr lang="ko-KR" altLang="en-US" sz="1200" dirty="0"/>
              <a:t>만기</a:t>
            </a:r>
            <a:r>
              <a:rPr lang="en-US" altLang="ko-KR" sz="1200" dirty="0"/>
              <a:t>ISA </a:t>
            </a:r>
            <a:r>
              <a:rPr lang="ko-KR" altLang="en-US" sz="1200" dirty="0"/>
              <a:t>전환입금의 완료여부에 대한 최종확인 필요 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9847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DABFAC08-9D5B-4F16-A517-8FC8523FF7AA}"/>
              </a:ext>
            </a:extLst>
          </p:cNvPr>
          <p:cNvSpPr/>
          <p:nvPr/>
        </p:nvSpPr>
        <p:spPr>
          <a:xfrm>
            <a:off x="3671545" y="458184"/>
            <a:ext cx="829476" cy="262533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FAQ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모서리가 둥근 직사각형 16">
            <a:extLst>
              <a:ext uri="{FF2B5EF4-FFF2-40B4-BE49-F238E27FC236}">
                <a16:creationId xmlns:a16="http://schemas.microsoft.com/office/drawing/2014/main" id="{252C1FF5-17A9-4C01-A09E-74A6FB717A16}"/>
              </a:ext>
            </a:extLst>
          </p:cNvPr>
          <p:cNvSpPr/>
          <p:nvPr/>
        </p:nvSpPr>
        <p:spPr>
          <a:xfrm>
            <a:off x="682715" y="1249511"/>
            <a:ext cx="546450" cy="224960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latin typeface="+mj-ea"/>
                <a:ea typeface="+mj-ea"/>
              </a:rPr>
              <a:t>Q4</a:t>
            </a:r>
            <a:endParaRPr lang="ko-KR" altLang="en-US" sz="1600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AE80CB-6A3C-4A61-BD73-C3F1216586BE}"/>
              </a:ext>
            </a:extLst>
          </p:cNvPr>
          <p:cNvSpPr txBox="1"/>
          <p:nvPr/>
        </p:nvSpPr>
        <p:spPr>
          <a:xfrm>
            <a:off x="1196313" y="1202234"/>
            <a:ext cx="8464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만기일로부터 </a:t>
            </a:r>
            <a:r>
              <a:rPr lang="en-US" altLang="ko-KR" sz="1400" dirty="0">
                <a:latin typeface="+mj-ea"/>
                <a:ea typeface="+mj-ea"/>
              </a:rPr>
              <a:t>60</a:t>
            </a:r>
            <a:r>
              <a:rPr lang="ko-KR" altLang="en-US" sz="1400" dirty="0">
                <a:latin typeface="+mj-ea"/>
                <a:ea typeface="+mj-ea"/>
              </a:rPr>
              <a:t>일 이내라면 연금계좌 전환입금시 여러 차례</a:t>
            </a:r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나눠서 입금할 수 있나요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AA91D-981C-4405-B3B8-15D06D917B3F}"/>
              </a:ext>
            </a:extLst>
          </p:cNvPr>
          <p:cNvSpPr txBox="1"/>
          <p:nvPr/>
        </p:nvSpPr>
        <p:spPr>
          <a:xfrm>
            <a:off x="954821" y="1643154"/>
            <a:ext cx="8335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>
                <a:latin typeface="+mn-ea"/>
              </a:rPr>
              <a:t>가능합니다</a:t>
            </a:r>
            <a:r>
              <a:rPr lang="en-US" altLang="ko-KR" sz="1200" dirty="0">
                <a:latin typeface="+mn-ea"/>
              </a:rPr>
              <a:t>. ISA </a:t>
            </a:r>
            <a:r>
              <a:rPr lang="ko-KR" altLang="en-US" sz="1200" dirty="0">
                <a:latin typeface="+mn-ea"/>
              </a:rPr>
              <a:t>만기 해지된 금액 내에서 </a:t>
            </a:r>
            <a:r>
              <a:rPr lang="en-US" altLang="ko-KR" sz="1200" dirty="0">
                <a:latin typeface="+mn-ea"/>
              </a:rPr>
              <a:t>60</a:t>
            </a:r>
            <a:r>
              <a:rPr lang="ko-KR" altLang="en-US" sz="1200" dirty="0">
                <a:latin typeface="+mn-ea"/>
              </a:rPr>
              <a:t>일 이내 횟수 제한 없습니다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E8F66B79-2B2C-4952-A5AD-AA64D2A1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3" y="417514"/>
            <a:ext cx="8915400" cy="409575"/>
          </a:xfrm>
        </p:spPr>
        <p:txBody>
          <a:bodyPr/>
          <a:lstStyle/>
          <a:p>
            <a:r>
              <a:rPr kumimoji="1" lang="ko-KR" altLang="en-US" dirty="0"/>
              <a:t>만기</a:t>
            </a:r>
            <a:r>
              <a:rPr kumimoji="1" lang="en-US" altLang="ko-KR" dirty="0"/>
              <a:t>ISA </a:t>
            </a:r>
            <a:r>
              <a:rPr kumimoji="1" lang="ko-KR" altLang="en-US" dirty="0"/>
              <a:t>연금전환 업무</a:t>
            </a:r>
            <a:endParaRPr kumimoji="1" lang="ko-Kore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8894B-44E2-4BC5-B7FB-72B18C68F952}"/>
              </a:ext>
            </a:extLst>
          </p:cNvPr>
          <p:cNvSpPr txBox="1"/>
          <p:nvPr/>
        </p:nvSpPr>
        <p:spPr>
          <a:xfrm>
            <a:off x="1229165" y="3739602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j-ea"/>
                <a:ea typeface="+mj-ea"/>
              </a:rPr>
              <a:t>만기 전환금액으로 연금계좌에 입금한 금액은 출금이 가능한가요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4" name="모서리가 둥근 직사각형 16">
            <a:extLst>
              <a:ext uri="{FF2B5EF4-FFF2-40B4-BE49-F238E27FC236}">
                <a16:creationId xmlns:a16="http://schemas.microsoft.com/office/drawing/2014/main" id="{01E97570-7D79-4C38-B9E6-068E9A4DA233}"/>
              </a:ext>
            </a:extLst>
          </p:cNvPr>
          <p:cNvSpPr/>
          <p:nvPr/>
        </p:nvSpPr>
        <p:spPr>
          <a:xfrm>
            <a:off x="680477" y="3781011"/>
            <a:ext cx="548688" cy="224960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+mj-ea"/>
                <a:ea typeface="+mj-ea"/>
              </a:rPr>
              <a:t>Q5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20A7EE-201A-4386-941B-1D6A6C3FB1E5}"/>
              </a:ext>
            </a:extLst>
          </p:cNvPr>
          <p:cNvSpPr txBox="1"/>
          <p:nvPr/>
        </p:nvSpPr>
        <p:spPr>
          <a:xfrm>
            <a:off x="680477" y="4314024"/>
            <a:ext cx="11221156" cy="1718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연금저축계좌의 경우에만 가능합니다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</a:t>
            </a:r>
            <a:r>
              <a:rPr lang="en-US" altLang="ko-KR" sz="1200" i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200" i="1" u="sng" dirty="0">
                <a:solidFill>
                  <a:srgbClr val="FF0000"/>
                </a:solidFill>
                <a:latin typeface="+mn-ea"/>
              </a:rPr>
              <a:t>전환완료 다음연도부터 </a:t>
            </a:r>
            <a:r>
              <a:rPr lang="ko-KR" altLang="en-US" sz="1200" dirty="0">
                <a:latin typeface="+mn-ea"/>
              </a:rPr>
              <a:t> 만기</a:t>
            </a:r>
            <a:r>
              <a:rPr lang="en-US" altLang="ko-KR" sz="1200" dirty="0">
                <a:latin typeface="+mn-ea"/>
              </a:rPr>
              <a:t>ISA</a:t>
            </a:r>
            <a:r>
              <a:rPr lang="ko-KR" altLang="en-US" sz="1200" dirty="0">
                <a:latin typeface="+mn-ea"/>
              </a:rPr>
              <a:t>전환 납입액에서 세액공제대상금액을 제외한 나머지 금액은 비과세재원으로 반영</a:t>
            </a:r>
            <a:r>
              <a:rPr lang="en-US" altLang="ko-KR" sz="1200" dirty="0">
                <a:latin typeface="+mn-ea"/>
              </a:rPr>
              <a:t>,</a:t>
            </a:r>
            <a:r>
              <a:rPr lang="ko-KR" altLang="en-US" sz="1200" dirty="0">
                <a:latin typeface="+mn-ea"/>
              </a:rPr>
              <a:t> 인출 및 세액공제전환특례 가능합니다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latin typeface="+mn-ea"/>
              </a:rPr>
              <a:t>당해연도 인출 시에는 당해연도 납입금액 안에서 인출 가능하며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인출금액 재납입은 불가능합니다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 하지만</a:t>
            </a:r>
            <a:r>
              <a:rPr lang="en-US" altLang="ko-KR" sz="1200" dirty="0">
                <a:latin typeface="+mn-ea"/>
              </a:rPr>
              <a:t>,  </a:t>
            </a:r>
            <a:r>
              <a:rPr lang="ko-KR" altLang="en-US" sz="1200" dirty="0">
                <a:latin typeface="+mn-ea"/>
              </a:rPr>
              <a:t>당해 년도 납입금액이 인출되면  세액공제 혜택을 받지 못 할 수도 있으므로 유의하여 주시기 바랍니다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FC7F477-65F6-4603-89D1-A2B7F5C6E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240" y="2085777"/>
            <a:ext cx="4010585" cy="1362265"/>
          </a:xfrm>
          <a:prstGeom prst="rect">
            <a:avLst/>
          </a:prstGeom>
        </p:spPr>
      </p:pic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82D80355-2D51-4D0E-A7CA-CAD5B67E810C}"/>
              </a:ext>
            </a:extLst>
          </p:cNvPr>
          <p:cNvSpPr/>
          <p:nvPr/>
        </p:nvSpPr>
        <p:spPr>
          <a:xfrm>
            <a:off x="2541864" y="2066735"/>
            <a:ext cx="4538444" cy="1457995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lumMod val="5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92107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DABFAC08-9D5B-4F16-A517-8FC8523FF7AA}"/>
              </a:ext>
            </a:extLst>
          </p:cNvPr>
          <p:cNvSpPr/>
          <p:nvPr/>
        </p:nvSpPr>
        <p:spPr>
          <a:xfrm>
            <a:off x="3696945" y="458184"/>
            <a:ext cx="829476" cy="262533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FAQ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3" name="제목 1">
            <a:extLst>
              <a:ext uri="{FF2B5EF4-FFF2-40B4-BE49-F238E27FC236}">
                <a16:creationId xmlns:a16="http://schemas.microsoft.com/office/drawing/2014/main" id="{E8F66B79-2B2C-4952-A5AD-AA64D2A1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46242"/>
            <a:ext cx="8915400" cy="409575"/>
          </a:xfrm>
        </p:spPr>
        <p:txBody>
          <a:bodyPr/>
          <a:lstStyle/>
          <a:p>
            <a:r>
              <a:rPr kumimoji="1" lang="ko-KR" altLang="en-US" dirty="0"/>
              <a:t>만기</a:t>
            </a:r>
            <a:r>
              <a:rPr kumimoji="1" lang="en-US" altLang="ko-KR" dirty="0"/>
              <a:t>ISA </a:t>
            </a:r>
            <a:r>
              <a:rPr kumimoji="1" lang="ko-KR" altLang="en-US" dirty="0"/>
              <a:t>연금전환 업무</a:t>
            </a:r>
            <a:endParaRPr kumimoji="1" lang="ko-Kore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69E2C-5F71-40CD-A8D7-CFCAAF5EB040}"/>
              </a:ext>
            </a:extLst>
          </p:cNvPr>
          <p:cNvSpPr txBox="1"/>
          <p:nvPr/>
        </p:nvSpPr>
        <p:spPr>
          <a:xfrm>
            <a:off x="1198652" y="1150790"/>
            <a:ext cx="7928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 </a:t>
            </a:r>
            <a:r>
              <a:rPr lang="ko-KR" altLang="en-US" sz="1400" dirty="0">
                <a:latin typeface="+mj-ea"/>
                <a:ea typeface="+mj-ea"/>
              </a:rPr>
              <a:t>연금계좌내 </a:t>
            </a:r>
            <a:r>
              <a:rPr lang="en-US" altLang="ko-KR" sz="1400" dirty="0">
                <a:latin typeface="+mj-ea"/>
                <a:ea typeface="+mj-ea"/>
              </a:rPr>
              <a:t>ISA</a:t>
            </a:r>
            <a:r>
              <a:rPr lang="ko-KR" altLang="en-US" sz="1400" dirty="0">
                <a:latin typeface="+mj-ea"/>
                <a:ea typeface="+mj-ea"/>
              </a:rPr>
              <a:t>만기전환금액 외에 입금액이 없을 때 당해연도 세액공제 가능금액은 얼마인가요</a:t>
            </a:r>
            <a:r>
              <a:rPr lang="en-US" altLang="ko-KR" sz="1400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모서리가 둥근 직사각형 16">
            <a:extLst>
              <a:ext uri="{FF2B5EF4-FFF2-40B4-BE49-F238E27FC236}">
                <a16:creationId xmlns:a16="http://schemas.microsoft.com/office/drawing/2014/main" id="{1B99B6EF-DAB4-4DF1-AF36-D40C3660A524}"/>
              </a:ext>
            </a:extLst>
          </p:cNvPr>
          <p:cNvSpPr/>
          <p:nvPr/>
        </p:nvSpPr>
        <p:spPr>
          <a:xfrm>
            <a:off x="720211" y="1192197"/>
            <a:ext cx="548688" cy="224960"/>
          </a:xfrm>
          <a:prstGeom prst="roundRect">
            <a:avLst/>
          </a:prstGeom>
          <a:solidFill>
            <a:srgbClr val="F79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latin typeface="+mj-ea"/>
                <a:ea typeface="+mj-ea"/>
              </a:rPr>
              <a:t>Q6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B8E936-836C-459F-BAF6-466E51D795BF}"/>
              </a:ext>
            </a:extLst>
          </p:cNvPr>
          <p:cNvSpPr txBox="1"/>
          <p:nvPr/>
        </p:nvSpPr>
        <p:spPr>
          <a:xfrm>
            <a:off x="1158061" y="1497989"/>
            <a:ext cx="937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endParaRPr lang="en-US" altLang="ko-KR" sz="1200" b="1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1200" b="1" dirty="0">
                <a:latin typeface="+mn-ea"/>
              </a:rPr>
              <a:t>  </a:t>
            </a:r>
            <a:r>
              <a:rPr lang="en-US" altLang="ko-KR" sz="1200" b="1" dirty="0">
                <a:latin typeface="+mn-ea"/>
              </a:rPr>
              <a:t>* </a:t>
            </a:r>
            <a:r>
              <a:rPr lang="ko-KR" altLang="en-US" sz="1200" b="1" dirty="0">
                <a:latin typeface="+mn-ea"/>
              </a:rPr>
              <a:t> 세액공제 대상 납입액 한도 </a:t>
            </a:r>
            <a:r>
              <a:rPr lang="en-US" altLang="ko-KR" sz="1200" b="1" dirty="0">
                <a:latin typeface="+mn-ea"/>
              </a:rPr>
              <a:t>+ ISA</a:t>
            </a:r>
            <a:r>
              <a:rPr lang="ko-KR" altLang="en-US" sz="1200" b="1" dirty="0">
                <a:latin typeface="+mn-ea"/>
              </a:rPr>
              <a:t>전환 입금 금액의 </a:t>
            </a:r>
            <a:r>
              <a:rPr lang="en-US" altLang="ko-KR" sz="1200" b="1" dirty="0">
                <a:latin typeface="+mn-ea"/>
              </a:rPr>
              <a:t>10%(</a:t>
            </a:r>
            <a:r>
              <a:rPr lang="ko-KR" altLang="en-US" sz="1200" b="1" u="sng" dirty="0">
                <a:latin typeface="+mn-ea"/>
              </a:rPr>
              <a:t>최대 </a:t>
            </a:r>
            <a:r>
              <a:rPr lang="en-US" altLang="ko-KR" sz="1200" b="1" u="sng" dirty="0">
                <a:latin typeface="+mn-ea"/>
              </a:rPr>
              <a:t>300</a:t>
            </a:r>
            <a:r>
              <a:rPr lang="ko-KR" altLang="en-US" sz="1200" b="1" u="sng" dirty="0">
                <a:latin typeface="+mn-ea"/>
              </a:rPr>
              <a:t>만원</a:t>
            </a:r>
            <a:r>
              <a:rPr lang="en-US" altLang="ko-KR" sz="1200" b="1" dirty="0">
                <a:latin typeface="+mn-ea"/>
              </a:rPr>
              <a:t>)</a:t>
            </a:r>
          </a:p>
          <a:p>
            <a:r>
              <a:rPr lang="en-US" altLang="ko-KR" sz="1200" b="1" dirty="0">
                <a:latin typeface="+mn-ea"/>
              </a:rPr>
              <a:t>     </a:t>
            </a:r>
            <a:r>
              <a:rPr lang="ko-KR" altLang="en-US" sz="1200" b="1" dirty="0">
                <a:latin typeface="+mn-ea"/>
              </a:rPr>
              <a:t>개인형</a:t>
            </a:r>
            <a:r>
              <a:rPr lang="en-US" altLang="ko-KR" sz="1200" b="1" dirty="0">
                <a:latin typeface="+mn-ea"/>
              </a:rPr>
              <a:t>IRP = 900 + 300 = 1,200</a:t>
            </a:r>
            <a:r>
              <a:rPr lang="ko-KR" altLang="en-US" sz="1200" b="1" dirty="0">
                <a:latin typeface="+mn-ea"/>
              </a:rPr>
              <a:t>만원</a:t>
            </a:r>
            <a:r>
              <a:rPr lang="en-US" altLang="ko-KR" sz="1200" b="1" dirty="0">
                <a:latin typeface="+mn-ea"/>
              </a:rPr>
              <a:t>   /  </a:t>
            </a:r>
            <a:r>
              <a:rPr lang="ko-KR" altLang="en-US" sz="1200" b="1" dirty="0">
                <a:latin typeface="+mn-ea"/>
              </a:rPr>
              <a:t>연금저축 </a:t>
            </a:r>
            <a:r>
              <a:rPr lang="en-US" altLang="ko-KR" sz="1200" b="1" dirty="0">
                <a:latin typeface="+mn-ea"/>
              </a:rPr>
              <a:t>= 600 + 300 = 900</a:t>
            </a:r>
            <a:r>
              <a:rPr lang="ko-KR" altLang="en-US" sz="1200" b="1" dirty="0">
                <a:latin typeface="+mn-ea"/>
              </a:rPr>
              <a:t>만원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330F9-A4ED-43C8-A5E2-E2C0A85946F4}"/>
              </a:ext>
            </a:extLst>
          </p:cNvPr>
          <p:cNvSpPr txBox="1"/>
          <p:nvPr/>
        </p:nvSpPr>
        <p:spPr>
          <a:xfrm>
            <a:off x="1150125" y="1510540"/>
            <a:ext cx="9319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만기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ISA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전환금액은 일반 납입금과 따로 관리되나 일반 납입금이 없을 경우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ISA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만기전환금액으로 일반 납입액 세액공제 가능합니다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8888D9-E988-48C9-88BF-6653368D4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70137"/>
              </p:ext>
            </p:extLst>
          </p:nvPr>
        </p:nvGraphicFramePr>
        <p:xfrm>
          <a:off x="1158061" y="2662572"/>
          <a:ext cx="9814105" cy="1567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622">
                  <a:extLst>
                    <a:ext uri="{9D8B030D-6E8A-4147-A177-3AD203B41FA5}">
                      <a16:colId xmlns:a16="http://schemas.microsoft.com/office/drawing/2014/main" val="22981374"/>
                    </a:ext>
                  </a:extLst>
                </a:gridCol>
                <a:gridCol w="1694576">
                  <a:extLst>
                    <a:ext uri="{9D8B030D-6E8A-4147-A177-3AD203B41FA5}">
                      <a16:colId xmlns:a16="http://schemas.microsoft.com/office/drawing/2014/main" val="590891869"/>
                    </a:ext>
                  </a:extLst>
                </a:gridCol>
                <a:gridCol w="2063692">
                  <a:extLst>
                    <a:ext uri="{9D8B030D-6E8A-4147-A177-3AD203B41FA5}">
                      <a16:colId xmlns:a16="http://schemas.microsoft.com/office/drawing/2014/main" val="3304187475"/>
                    </a:ext>
                  </a:extLst>
                </a:gridCol>
                <a:gridCol w="2013358">
                  <a:extLst>
                    <a:ext uri="{9D8B030D-6E8A-4147-A177-3AD203B41FA5}">
                      <a16:colId xmlns:a16="http://schemas.microsoft.com/office/drawing/2014/main" val="2810261871"/>
                    </a:ext>
                  </a:extLst>
                </a:gridCol>
                <a:gridCol w="2404857">
                  <a:extLst>
                    <a:ext uri="{9D8B030D-6E8A-4147-A177-3AD203B41FA5}">
                      <a16:colId xmlns:a16="http://schemas.microsoft.com/office/drawing/2014/main" val="939128469"/>
                    </a:ext>
                  </a:extLst>
                </a:gridCol>
              </a:tblGrid>
              <a:tr h="2716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납입액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ISA</a:t>
                      </a:r>
                      <a:r>
                        <a:rPr lang="ko-KR" altLang="en-US" sz="1100" dirty="0"/>
                        <a:t>전환입금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세액공제 대상 납입한도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ISA</a:t>
                      </a:r>
                      <a:r>
                        <a:rPr lang="ko-KR" altLang="en-US" sz="1100" dirty="0"/>
                        <a:t>전환입금액의 </a:t>
                      </a:r>
                      <a:r>
                        <a:rPr lang="en-US" altLang="ko-KR" sz="1100" dirty="0"/>
                        <a:t>10%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당해년도</a:t>
                      </a:r>
                      <a:r>
                        <a:rPr lang="ko-KR" altLang="en-US" sz="1100" dirty="0"/>
                        <a:t> 세액공제 가능금액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391514"/>
                  </a:ext>
                </a:extLst>
              </a:tr>
              <a:tr h="2542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192405"/>
                  </a:ext>
                </a:extLst>
              </a:tr>
              <a:tr h="254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9,000,000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0604"/>
                  </a:ext>
                </a:extLst>
              </a:tr>
              <a:tr h="254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50,000,000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9,000,000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764"/>
                  </a:ext>
                </a:extLst>
              </a:tr>
              <a:tr h="254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104120"/>
                  </a:ext>
                </a:extLst>
              </a:tr>
              <a:tr h="2542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-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30,000,000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9,000,000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780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6541B75-15BE-41A8-A7AF-EA125AD5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01668"/>
              </p:ext>
            </p:extLst>
          </p:nvPr>
        </p:nvGraphicFramePr>
        <p:xfrm>
          <a:off x="1158061" y="4777858"/>
          <a:ext cx="981410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081">
                  <a:extLst>
                    <a:ext uri="{9D8B030D-6E8A-4147-A177-3AD203B41FA5}">
                      <a16:colId xmlns:a16="http://schemas.microsoft.com/office/drawing/2014/main" val="2298137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59089186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304187475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810261871"/>
                    </a:ext>
                  </a:extLst>
                </a:gridCol>
                <a:gridCol w="2400299">
                  <a:extLst>
                    <a:ext uri="{9D8B030D-6E8A-4147-A177-3AD203B41FA5}">
                      <a16:colId xmlns:a16="http://schemas.microsoft.com/office/drawing/2014/main" val="939128469"/>
                    </a:ext>
                  </a:extLst>
                </a:gridCol>
              </a:tblGrid>
              <a:tr h="2019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+mj-lt"/>
                        </a:rPr>
                        <a:t>납입액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j-lt"/>
                        </a:rPr>
                        <a:t>ISA</a:t>
                      </a:r>
                      <a:r>
                        <a:rPr lang="ko-KR" altLang="en-US" sz="1200" dirty="0">
                          <a:latin typeface="+mj-lt"/>
                        </a:rPr>
                        <a:t>전환입금 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+mj-lt"/>
                        </a:rPr>
                        <a:t>세액공제 대상 납입한도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+mj-lt"/>
                        </a:rPr>
                        <a:t>ISA</a:t>
                      </a:r>
                      <a:r>
                        <a:rPr lang="ko-KR" altLang="en-US" sz="1200" dirty="0">
                          <a:latin typeface="+mj-lt"/>
                        </a:rPr>
                        <a:t>전환입금액의 </a:t>
                      </a:r>
                      <a:r>
                        <a:rPr lang="en-US" altLang="ko-KR" sz="1200" dirty="0">
                          <a:latin typeface="+mj-lt"/>
                        </a:rPr>
                        <a:t>10%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+mj-lt"/>
                        </a:rPr>
                        <a:t>당해년도</a:t>
                      </a:r>
                      <a:r>
                        <a:rPr lang="ko-KR" altLang="en-US" sz="1200" dirty="0">
                          <a:latin typeface="+mj-lt"/>
                        </a:rPr>
                        <a:t> 세액공제 가능금액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391514"/>
                  </a:ext>
                </a:extLst>
              </a:tr>
              <a:tr h="273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192405"/>
                  </a:ext>
                </a:extLst>
              </a:tr>
              <a:tr h="273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30,000,000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3,000,000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12,000,000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0604"/>
                  </a:ext>
                </a:extLst>
              </a:tr>
              <a:tr h="273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50,000,000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3,000,000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12,000,000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7764"/>
                  </a:ext>
                </a:extLst>
              </a:tr>
              <a:tr h="273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-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10,000,000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104120"/>
                  </a:ext>
                </a:extLst>
              </a:tr>
              <a:tr h="200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-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30,000,000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+mj-lt"/>
                        </a:rPr>
                        <a:t>9,000,000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3,000,000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j-lt"/>
                        </a:rPr>
                        <a:t>12,000,000</a:t>
                      </a:r>
                      <a:endParaRPr lang="ko-KR" altLang="en-US" sz="1200" dirty="0"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78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C1F5AE-4C7A-4216-8C3B-AC7DBAD9B6EC}"/>
              </a:ext>
            </a:extLst>
          </p:cNvPr>
          <p:cNvSpPr txBox="1"/>
          <p:nvPr/>
        </p:nvSpPr>
        <p:spPr>
          <a:xfrm>
            <a:off x="1114426" y="2391084"/>
            <a:ext cx="17197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</a:t>
            </a:r>
            <a:r>
              <a:rPr lang="ko-KR" altLang="en-US" sz="1100" dirty="0"/>
              <a:t>연금저축계좌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622E4-749A-4048-8446-EAF9E3772BBB}"/>
              </a:ext>
            </a:extLst>
          </p:cNvPr>
          <p:cNvSpPr txBox="1"/>
          <p:nvPr/>
        </p:nvSpPr>
        <p:spPr>
          <a:xfrm>
            <a:off x="1114426" y="4499470"/>
            <a:ext cx="17197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</a:t>
            </a:r>
            <a:r>
              <a:rPr lang="ko-KR" altLang="en-US" sz="1100" dirty="0"/>
              <a:t>개인형</a:t>
            </a:r>
            <a:r>
              <a:rPr lang="en-US" altLang="ko-KR" sz="1100" dirty="0"/>
              <a:t>IRP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83300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500</Words>
  <Application>Microsoft Macintosh PowerPoint</Application>
  <PresentationFormat>와이드스크린</PresentationFormat>
  <Paragraphs>149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KoPub돋움체_Pro Bold</vt:lpstr>
      <vt:lpstr>KoPub돋움체_Pro Medium</vt:lpstr>
      <vt:lpstr>Arial</vt:lpstr>
      <vt:lpstr>Noto Sans</vt:lpstr>
      <vt:lpstr>Office 테마</vt:lpstr>
      <vt:lpstr>연금계좌 만기ISA전환입금 업무 자주 나오는 FAQ  [연금저축,IRP공통]</vt:lpstr>
      <vt:lpstr>PowerPoint 프레젠테이션</vt:lpstr>
      <vt:lpstr>만기ISA 연금전환 업무</vt:lpstr>
      <vt:lpstr>만기ISA 연금전환 업무</vt:lpstr>
      <vt:lpstr>만기ISA 연금전환 업무</vt:lpstr>
      <vt:lpstr>만기ISA 연금전환 업무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만기ISA 연금전환 업무 FAQ</dc:title>
  <dc:creator>심지영</dc:creator>
  <cp:lastModifiedBy>김정섭[ 대학원석사과정재학 / 산업경영공학과 ]</cp:lastModifiedBy>
  <cp:revision>26</cp:revision>
  <dcterms:created xsi:type="dcterms:W3CDTF">2024-05-14T01:38:45Z</dcterms:created>
  <dcterms:modified xsi:type="dcterms:W3CDTF">2026-07-25T00:56:17Z</dcterms:modified>
</cp:coreProperties>
</file>